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76" r:id="rId13"/>
    <p:sldId id="275" r:id="rId14"/>
    <p:sldId id="267" r:id="rId15"/>
    <p:sldId id="268" r:id="rId16"/>
    <p:sldId id="269" r:id="rId17"/>
    <p:sldId id="270" r:id="rId18"/>
    <p:sldId id="271" r:id="rId19"/>
    <p:sldId id="272" r:id="rId20"/>
    <p:sldId id="273" r:id="rId21"/>
    <p:sldId id="27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2CEE6F-10EB-4D46-9F32-23C9BB3A582B}" type="datetimeFigureOut">
              <a:rPr lang="en-IL" smtClean="0"/>
              <a:t>04/12/2025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E51A42-0DC9-0F48-8B92-B12A93FA83DC}" type="slidenum">
              <a:rPr lang="en-IL" smtClean="0"/>
              <a:t>‹#›</a:t>
            </a:fld>
            <a:endParaRPr lang="en-IL"/>
          </a:p>
        </p:txBody>
      </p:sp>
    </p:spTree>
    <p:extLst>
      <p:ext uri="{BB962C8B-B14F-4D97-AF65-F5344CB8AC3E}">
        <p14:creationId xmlns:p14="http://schemas.microsoft.com/office/powerpoint/2010/main" val="3089925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 input : "For Task #3 please answer by discussing the methods you would use to accomplish the task and any other thoughts you may have. "</a:t>
            </a:r>
          </a:p>
          <a:p>
            <a:endParaRPr lang="en-IL" dirty="0"/>
          </a:p>
        </p:txBody>
      </p:sp>
      <p:sp>
        <p:nvSpPr>
          <p:cNvPr id="4" name="Slide Number Placeholder 3"/>
          <p:cNvSpPr>
            <a:spLocks noGrp="1"/>
          </p:cNvSpPr>
          <p:nvPr>
            <p:ph type="sldNum" sz="quarter" idx="5"/>
          </p:nvPr>
        </p:nvSpPr>
        <p:spPr/>
        <p:txBody>
          <a:bodyPr/>
          <a:lstStyle/>
          <a:p>
            <a:fld id="{B4E51A42-0DC9-0F48-8B92-B12A93FA83DC}" type="slidenum">
              <a:rPr lang="en-IL" smtClean="0"/>
              <a:t>7</a:t>
            </a:fld>
            <a:endParaRPr lang="en-IL"/>
          </a:p>
        </p:txBody>
      </p:sp>
    </p:spTree>
    <p:extLst>
      <p:ext uri="{BB962C8B-B14F-4D97-AF65-F5344CB8AC3E}">
        <p14:creationId xmlns:p14="http://schemas.microsoft.com/office/powerpoint/2010/main" val="2054147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12/4/25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12/4/25</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12/4/25</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12/4/25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12/4/25</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12/4/25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12/4/25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12/4/25</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FD75E-5B92-A896-579C-DE2762852C25}"/>
              </a:ext>
            </a:extLst>
          </p:cNvPr>
          <p:cNvSpPr>
            <a:spLocks noGrp="1"/>
          </p:cNvSpPr>
          <p:nvPr>
            <p:ph type="ctrTitle"/>
          </p:nvPr>
        </p:nvSpPr>
        <p:spPr/>
        <p:txBody>
          <a:bodyPr/>
          <a:lstStyle/>
          <a:p>
            <a:r>
              <a:rPr lang="en-IL" dirty="0"/>
              <a:t>Case Study – Jain Global </a:t>
            </a:r>
          </a:p>
        </p:txBody>
      </p:sp>
      <p:sp>
        <p:nvSpPr>
          <p:cNvPr id="3" name="Subtitle 2">
            <a:extLst>
              <a:ext uri="{FF2B5EF4-FFF2-40B4-BE49-F238E27FC236}">
                <a16:creationId xmlns:a16="http://schemas.microsoft.com/office/drawing/2014/main" id="{4F2F221F-9CF7-9C7E-7652-C73588BC53B4}"/>
              </a:ext>
            </a:extLst>
          </p:cNvPr>
          <p:cNvSpPr>
            <a:spLocks noGrp="1"/>
          </p:cNvSpPr>
          <p:nvPr>
            <p:ph type="subTitle" idx="1"/>
          </p:nvPr>
        </p:nvSpPr>
        <p:spPr/>
        <p:txBody>
          <a:bodyPr/>
          <a:lstStyle/>
          <a:p>
            <a:r>
              <a:rPr lang="en-IL" dirty="0"/>
              <a:t>By Shiri Alouf-Heffetz</a:t>
            </a:r>
          </a:p>
        </p:txBody>
      </p:sp>
    </p:spTree>
    <p:extLst>
      <p:ext uri="{BB962C8B-B14F-4D97-AF65-F5344CB8AC3E}">
        <p14:creationId xmlns:p14="http://schemas.microsoft.com/office/powerpoint/2010/main" val="2273113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7D64B-3086-E204-8D01-6D4E4A1ADCD7}"/>
              </a:ext>
            </a:extLst>
          </p:cNvPr>
          <p:cNvSpPr>
            <a:spLocks noGrp="1"/>
          </p:cNvSpPr>
          <p:nvPr>
            <p:ph type="title"/>
          </p:nvPr>
        </p:nvSpPr>
        <p:spPr/>
        <p:txBody>
          <a:bodyPr/>
          <a:lstStyle/>
          <a:p>
            <a:r>
              <a:rPr lang="en-IL" dirty="0"/>
              <a:t>Question_I</a:t>
            </a:r>
            <a:br>
              <a:rPr lang="en-IL" dirty="0"/>
            </a:br>
            <a:r>
              <a:rPr lang="en-IL" dirty="0"/>
              <a:t>Momentum aspects.</a:t>
            </a:r>
          </a:p>
        </p:txBody>
      </p:sp>
      <p:sp>
        <p:nvSpPr>
          <p:cNvPr id="3" name="Content Placeholder 2">
            <a:extLst>
              <a:ext uri="{FF2B5EF4-FFF2-40B4-BE49-F238E27FC236}">
                <a16:creationId xmlns:a16="http://schemas.microsoft.com/office/drawing/2014/main" id="{FB7F60F7-7D9B-6861-14B2-3EDABEF0A500}"/>
              </a:ext>
            </a:extLst>
          </p:cNvPr>
          <p:cNvSpPr>
            <a:spLocks noGrp="1"/>
          </p:cNvSpPr>
          <p:nvPr>
            <p:ph idx="1"/>
          </p:nvPr>
        </p:nvSpPr>
        <p:spPr>
          <a:xfrm>
            <a:off x="3794840" y="818707"/>
            <a:ext cx="7315200" cy="2964067"/>
          </a:xfrm>
        </p:spPr>
        <p:txBody>
          <a:bodyPr>
            <a:normAutofit lnSpcReduction="10000"/>
          </a:bodyPr>
          <a:lstStyle/>
          <a:p>
            <a:r>
              <a:rPr lang="en-IL" dirty="0"/>
              <a:t>Here we consider classic momentum signals, selected the 12-to-1 signal adjusted for volatilty.</a:t>
            </a:r>
          </a:p>
          <a:p>
            <a:r>
              <a:rPr lang="en-IL" dirty="0"/>
              <a:t> </a:t>
            </a:r>
            <a:r>
              <a:rPr lang="en-IL" sz="1500" dirty="0"/>
              <a:t>Our data was collected using the yfinance package, the results for the pure momentum with selection of top 20% cutoff :</a:t>
            </a:r>
            <a:br>
              <a:rPr lang="en-IL" sz="1500" dirty="0"/>
            </a:br>
            <a:r>
              <a:rPr lang="en-US" sz="1500" dirty="0"/>
              <a:t>Long-Only Top 20%: CAGR 42.77%, Vol 27.02%, Sharpe 1.47, </a:t>
            </a:r>
            <a:r>
              <a:rPr lang="en-US" sz="1500" dirty="0" err="1"/>
              <a:t>MaxDD</a:t>
            </a:r>
            <a:r>
              <a:rPr lang="en-US" sz="1500" dirty="0"/>
              <a:t> -34.92%, Hit 65.81%.</a:t>
            </a:r>
          </a:p>
          <a:p>
            <a:r>
              <a:rPr lang="en-US" sz="1500" dirty="0"/>
              <a:t>The results for the composite with (momentum60%, sector40%)</a:t>
            </a:r>
            <a:br>
              <a:rPr lang="en-US" sz="1500" dirty="0"/>
            </a:br>
            <a:r>
              <a:rPr lang="en-US" sz="1500" dirty="0"/>
              <a:t>Long-Only Composite (60% stock, 40% sector): CAGR 21.16%, Vol 25.02%, Sharpe 0.89, </a:t>
            </a:r>
            <a:r>
              <a:rPr lang="en-US" sz="1500" dirty="0" err="1"/>
              <a:t>MaxDD</a:t>
            </a:r>
            <a:r>
              <a:rPr lang="en-US" sz="1500" dirty="0"/>
              <a:t> -23.99%, Hit 57.42%</a:t>
            </a:r>
            <a:br>
              <a:rPr lang="en-US" sz="1500" dirty="0"/>
            </a:br>
            <a:br>
              <a:rPr lang="en-US" sz="1500" dirty="0"/>
            </a:br>
            <a:r>
              <a:rPr lang="en-US" sz="1500" dirty="0"/>
              <a:t>We can see the long only performs consistently better then long short and has a better sharp ratio.</a:t>
            </a:r>
            <a:endParaRPr lang="en-IL" sz="1500" dirty="0"/>
          </a:p>
        </p:txBody>
      </p:sp>
      <p:pic>
        <p:nvPicPr>
          <p:cNvPr id="11" name="Picture 10" descr="A graph with numbers and lines&#10;&#10;AI-generated content may be incorrect.">
            <a:extLst>
              <a:ext uri="{FF2B5EF4-FFF2-40B4-BE49-F238E27FC236}">
                <a16:creationId xmlns:a16="http://schemas.microsoft.com/office/drawing/2014/main" id="{D8F41217-416F-7D6F-7A59-5277A0974026}"/>
              </a:ext>
            </a:extLst>
          </p:cNvPr>
          <p:cNvPicPr>
            <a:picLocks noChangeAspect="1"/>
          </p:cNvPicPr>
          <p:nvPr/>
        </p:nvPicPr>
        <p:blipFill>
          <a:blip r:embed="rId2"/>
          <a:stretch>
            <a:fillRect/>
          </a:stretch>
        </p:blipFill>
        <p:spPr>
          <a:xfrm>
            <a:off x="5295014" y="3424428"/>
            <a:ext cx="4911259" cy="2946755"/>
          </a:xfrm>
          <a:prstGeom prst="rect">
            <a:avLst/>
          </a:prstGeom>
        </p:spPr>
      </p:pic>
    </p:spTree>
    <p:extLst>
      <p:ext uri="{BB962C8B-B14F-4D97-AF65-F5344CB8AC3E}">
        <p14:creationId xmlns:p14="http://schemas.microsoft.com/office/powerpoint/2010/main" val="2996473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F75A1-B613-0126-4DF3-414B65C43AB8}"/>
              </a:ext>
            </a:extLst>
          </p:cNvPr>
          <p:cNvSpPr>
            <a:spLocks noGrp="1"/>
          </p:cNvSpPr>
          <p:nvPr>
            <p:ph type="title"/>
          </p:nvPr>
        </p:nvSpPr>
        <p:spPr/>
        <p:txBody>
          <a:bodyPr/>
          <a:lstStyle/>
          <a:p>
            <a:r>
              <a:rPr lang="en-IL" dirty="0"/>
              <a:t>The 12m-to-1 signal, vol adjusted.</a:t>
            </a:r>
          </a:p>
        </p:txBody>
      </p:sp>
      <p:sp>
        <p:nvSpPr>
          <p:cNvPr id="3" name="Content Placeholder 2">
            <a:extLst>
              <a:ext uri="{FF2B5EF4-FFF2-40B4-BE49-F238E27FC236}">
                <a16:creationId xmlns:a16="http://schemas.microsoft.com/office/drawing/2014/main" id="{AC90E61D-4C65-4C6D-EF13-90F6B7C173A7}"/>
              </a:ext>
            </a:extLst>
          </p:cNvPr>
          <p:cNvSpPr>
            <a:spLocks noGrp="1"/>
          </p:cNvSpPr>
          <p:nvPr>
            <p:ph idx="1"/>
          </p:nvPr>
        </p:nvSpPr>
        <p:spPr/>
        <p:txBody>
          <a:bodyPr/>
          <a:lstStyle/>
          <a:p>
            <a:endParaRPr lang="en-IL"/>
          </a:p>
        </p:txBody>
      </p:sp>
      <p:pic>
        <p:nvPicPr>
          <p:cNvPr id="4" name="Picture 3" descr="A graph with blue and orange lines&#10;&#10;AI-generated content may be incorrect.">
            <a:extLst>
              <a:ext uri="{FF2B5EF4-FFF2-40B4-BE49-F238E27FC236}">
                <a16:creationId xmlns:a16="http://schemas.microsoft.com/office/drawing/2014/main" id="{9D3F6345-8DA7-7E80-1DF0-835E858BFC63}"/>
              </a:ext>
            </a:extLst>
          </p:cNvPr>
          <p:cNvPicPr>
            <a:picLocks noChangeAspect="1"/>
          </p:cNvPicPr>
          <p:nvPr/>
        </p:nvPicPr>
        <p:blipFill>
          <a:blip r:embed="rId2"/>
          <a:stretch>
            <a:fillRect/>
          </a:stretch>
        </p:blipFill>
        <p:spPr>
          <a:xfrm>
            <a:off x="3677910" y="864107"/>
            <a:ext cx="7668638" cy="4601183"/>
          </a:xfrm>
          <a:prstGeom prst="rect">
            <a:avLst/>
          </a:prstGeom>
        </p:spPr>
      </p:pic>
    </p:spTree>
    <p:extLst>
      <p:ext uri="{BB962C8B-B14F-4D97-AF65-F5344CB8AC3E}">
        <p14:creationId xmlns:p14="http://schemas.microsoft.com/office/powerpoint/2010/main" val="4117570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2D68F-C6F1-7242-8A59-8777574DAA16}"/>
              </a:ext>
            </a:extLst>
          </p:cNvPr>
          <p:cNvSpPr>
            <a:spLocks noGrp="1"/>
          </p:cNvSpPr>
          <p:nvPr>
            <p:ph type="title"/>
          </p:nvPr>
        </p:nvSpPr>
        <p:spPr/>
        <p:txBody>
          <a:bodyPr/>
          <a:lstStyle/>
          <a:p>
            <a:r>
              <a:rPr lang="en-IL" dirty="0"/>
              <a:t>Na</a:t>
            </a:r>
            <a:r>
              <a:rPr lang="en-US" dirty="0" err="1"/>
              <a:t>ï</a:t>
            </a:r>
            <a:r>
              <a:rPr lang="en-IL" dirty="0"/>
              <a:t>ve 15 days, vol adjusted signal.</a:t>
            </a:r>
          </a:p>
        </p:txBody>
      </p:sp>
      <p:pic>
        <p:nvPicPr>
          <p:cNvPr id="7" name="Picture 6" descr="A graph with blue and orange lines&#10;&#10;AI-generated content may be incorrect.">
            <a:extLst>
              <a:ext uri="{FF2B5EF4-FFF2-40B4-BE49-F238E27FC236}">
                <a16:creationId xmlns:a16="http://schemas.microsoft.com/office/drawing/2014/main" id="{C89D35FC-9A1D-EF19-4CE5-60094AA81ED3}"/>
              </a:ext>
            </a:extLst>
          </p:cNvPr>
          <p:cNvPicPr>
            <a:picLocks noChangeAspect="1"/>
          </p:cNvPicPr>
          <p:nvPr/>
        </p:nvPicPr>
        <p:blipFill>
          <a:blip r:embed="rId2"/>
          <a:stretch>
            <a:fillRect/>
          </a:stretch>
        </p:blipFill>
        <p:spPr>
          <a:xfrm>
            <a:off x="3015049" y="673441"/>
            <a:ext cx="9051328" cy="5430797"/>
          </a:xfrm>
          <a:prstGeom prst="rect">
            <a:avLst/>
          </a:prstGeom>
        </p:spPr>
      </p:pic>
    </p:spTree>
    <p:extLst>
      <p:ext uri="{BB962C8B-B14F-4D97-AF65-F5344CB8AC3E}">
        <p14:creationId xmlns:p14="http://schemas.microsoft.com/office/powerpoint/2010/main" val="1526298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E1D9F-608B-08F1-A6B9-F9B7EF8ABDD8}"/>
              </a:ext>
            </a:extLst>
          </p:cNvPr>
          <p:cNvSpPr>
            <a:spLocks noGrp="1"/>
          </p:cNvSpPr>
          <p:nvPr>
            <p:ph type="title"/>
          </p:nvPr>
        </p:nvSpPr>
        <p:spPr/>
        <p:txBody>
          <a:bodyPr/>
          <a:lstStyle/>
          <a:p>
            <a:r>
              <a:rPr lang="en-IL" dirty="0"/>
              <a:t>Sector Signal</a:t>
            </a:r>
            <a:br>
              <a:rPr lang="en-IL" dirty="0"/>
            </a:br>
            <a:r>
              <a:rPr lang="en-IL" dirty="0"/>
              <a:t>Momentum 6m</a:t>
            </a:r>
          </a:p>
        </p:txBody>
      </p:sp>
      <p:pic>
        <p:nvPicPr>
          <p:cNvPr id="5" name="Picture 4" descr="A graph with blue and orange lines&#10;&#10;AI-generated content may be incorrect.">
            <a:extLst>
              <a:ext uri="{FF2B5EF4-FFF2-40B4-BE49-F238E27FC236}">
                <a16:creationId xmlns:a16="http://schemas.microsoft.com/office/drawing/2014/main" id="{9E6A3D03-6C65-8761-0990-9565164019D7}"/>
              </a:ext>
            </a:extLst>
          </p:cNvPr>
          <p:cNvPicPr>
            <a:picLocks noChangeAspect="1"/>
          </p:cNvPicPr>
          <p:nvPr/>
        </p:nvPicPr>
        <p:blipFill>
          <a:blip r:embed="rId2"/>
          <a:stretch>
            <a:fillRect/>
          </a:stretch>
        </p:blipFill>
        <p:spPr>
          <a:xfrm>
            <a:off x="2947087" y="655526"/>
            <a:ext cx="9244913" cy="5546948"/>
          </a:xfrm>
          <a:prstGeom prst="rect">
            <a:avLst/>
          </a:prstGeom>
        </p:spPr>
      </p:pic>
    </p:spTree>
    <p:extLst>
      <p:ext uri="{BB962C8B-B14F-4D97-AF65-F5344CB8AC3E}">
        <p14:creationId xmlns:p14="http://schemas.microsoft.com/office/powerpoint/2010/main" val="3248045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81B5-B418-CD3C-314C-47D9BB55EA3D}"/>
              </a:ext>
            </a:extLst>
          </p:cNvPr>
          <p:cNvSpPr>
            <a:spLocks noGrp="1"/>
          </p:cNvSpPr>
          <p:nvPr>
            <p:ph type="title"/>
          </p:nvPr>
        </p:nvSpPr>
        <p:spPr/>
        <p:txBody>
          <a:bodyPr/>
          <a:lstStyle/>
          <a:p>
            <a:r>
              <a:rPr lang="en-IL" dirty="0"/>
              <a:t>Question_II</a:t>
            </a:r>
            <a:br>
              <a:rPr lang="en-IL" dirty="0"/>
            </a:br>
            <a:r>
              <a:rPr lang="en-IL" dirty="0"/>
              <a:t>Crowding</a:t>
            </a:r>
          </a:p>
        </p:txBody>
      </p:sp>
      <p:sp>
        <p:nvSpPr>
          <p:cNvPr id="3" name="Content Placeholder 2">
            <a:extLst>
              <a:ext uri="{FF2B5EF4-FFF2-40B4-BE49-F238E27FC236}">
                <a16:creationId xmlns:a16="http://schemas.microsoft.com/office/drawing/2014/main" id="{13200962-2C81-FAF2-4768-1F553C52C60E}"/>
              </a:ext>
            </a:extLst>
          </p:cNvPr>
          <p:cNvSpPr>
            <a:spLocks noGrp="1"/>
          </p:cNvSpPr>
          <p:nvPr>
            <p:ph idx="1"/>
          </p:nvPr>
        </p:nvSpPr>
        <p:spPr>
          <a:xfrm>
            <a:off x="3603454" y="776177"/>
            <a:ext cx="7315200" cy="3944679"/>
          </a:xfrm>
        </p:spPr>
        <p:txBody>
          <a:bodyPr>
            <a:noAutofit/>
          </a:bodyPr>
          <a:lstStyle/>
          <a:p>
            <a:r>
              <a:rPr lang="en-US" sz="1400" dirty="0"/>
              <a:t>One of our investors is concerned that holding securities that are also owned by other long/short equity hedge funds can be dangerous.</a:t>
            </a:r>
          </a:p>
          <a:p>
            <a:pPr marL="0" indent="0">
              <a:buNone/>
            </a:pPr>
            <a:r>
              <a:rPr lang="en-US" sz="1400" dirty="0"/>
              <a:t>-- Discuss why you agree or disagree</a:t>
            </a:r>
          </a:p>
          <a:p>
            <a:pPr>
              <a:buFont typeface="Wingdings" pitchFamily="2" charset="2"/>
              <a:buChar char="n"/>
            </a:pPr>
            <a:r>
              <a:rPr lang="en-US" sz="1400" dirty="0"/>
              <a:t>Discuss which datasets and methodologies might you use to test this theory?</a:t>
            </a:r>
          </a:p>
          <a:p>
            <a:pPr marL="0" indent="0">
              <a:buNone/>
            </a:pPr>
            <a:r>
              <a:rPr lang="en-US" sz="1400" dirty="0"/>
              <a:t>Holding crowded securities can be dangerous due to liquidity constraints, forced unwinds, and in rare cases short squeezes. Historical examples include the quant meltdown or the recent GameStop saga. However, the overlap itself is not inherently dangerous; it can improve market efficiency and may indicate strong fundamentals.</a:t>
            </a:r>
          </a:p>
          <a:p>
            <a:pPr marL="0" indent="0">
              <a:buNone/>
            </a:pPr>
            <a:endParaRPr lang="en-US" sz="1400" dirty="0"/>
          </a:p>
          <a:p>
            <a:pPr marL="0" indent="0">
              <a:buNone/>
            </a:pPr>
            <a:r>
              <a:rPr lang="en-US" sz="1400" dirty="0"/>
              <a:t>To test this theory, we can examine 13F, Bloomberg or Barclays hedge index; evaluate performance, drawdowns, and Sharpe ratios. One approach is to construct a basket of stocks that have historically been heavily owned by many funds and analyze how that basket has performed over time.</a:t>
            </a:r>
          </a:p>
          <a:p>
            <a:pPr marL="0" indent="0">
              <a:buNone/>
            </a:pPr>
            <a:endParaRPr lang="en-IL" sz="1400" dirty="0"/>
          </a:p>
        </p:txBody>
      </p:sp>
    </p:spTree>
    <p:extLst>
      <p:ext uri="{BB962C8B-B14F-4D97-AF65-F5344CB8AC3E}">
        <p14:creationId xmlns:p14="http://schemas.microsoft.com/office/powerpoint/2010/main" val="2532182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4AE56-E6FE-8152-0C9F-9AE55D44E980}"/>
              </a:ext>
            </a:extLst>
          </p:cNvPr>
          <p:cNvSpPr>
            <a:spLocks noGrp="1"/>
          </p:cNvSpPr>
          <p:nvPr>
            <p:ph type="title"/>
          </p:nvPr>
        </p:nvSpPr>
        <p:spPr/>
        <p:txBody>
          <a:bodyPr/>
          <a:lstStyle/>
          <a:p>
            <a:r>
              <a:rPr lang="en-IL" dirty="0"/>
              <a:t>Question_III</a:t>
            </a:r>
            <a:br>
              <a:rPr lang="en-IL" dirty="0"/>
            </a:br>
            <a:r>
              <a:rPr lang="en-IL" dirty="0"/>
              <a:t>Groups</a:t>
            </a:r>
            <a:br>
              <a:rPr lang="en-IL" dirty="0"/>
            </a:br>
            <a:endParaRPr lang="en-IL" dirty="0"/>
          </a:p>
        </p:txBody>
      </p:sp>
      <p:sp>
        <p:nvSpPr>
          <p:cNvPr id="3" name="Content Placeholder 2">
            <a:extLst>
              <a:ext uri="{FF2B5EF4-FFF2-40B4-BE49-F238E27FC236}">
                <a16:creationId xmlns:a16="http://schemas.microsoft.com/office/drawing/2014/main" id="{3756C843-5C52-EC37-CC27-BB412D6DB6F0}"/>
              </a:ext>
            </a:extLst>
          </p:cNvPr>
          <p:cNvSpPr>
            <a:spLocks noGrp="1"/>
          </p:cNvSpPr>
          <p:nvPr>
            <p:ph idx="1"/>
          </p:nvPr>
        </p:nvSpPr>
        <p:spPr/>
        <p:txBody>
          <a:bodyPr/>
          <a:lstStyle/>
          <a:p>
            <a:r>
              <a:rPr lang="en-US" dirty="0"/>
              <a:t>Our investors believe that the standard sector classifications are inaccurate and would like to generate their own that more tightly track securities that are like one another. </a:t>
            </a:r>
          </a:p>
          <a:p>
            <a:r>
              <a:rPr lang="en-US" dirty="0"/>
              <a:t>Develop a method that generates these custom groups. </a:t>
            </a:r>
          </a:p>
          <a:p>
            <a:r>
              <a:rPr lang="en-US" dirty="0"/>
              <a:t>Discuss the results and merits of your approach.</a:t>
            </a:r>
            <a:br>
              <a:rPr lang="en-US" dirty="0"/>
            </a:br>
            <a:endParaRPr lang="en-US" dirty="0"/>
          </a:p>
          <a:p>
            <a:endParaRPr lang="en-IL" dirty="0"/>
          </a:p>
        </p:txBody>
      </p:sp>
    </p:spTree>
    <p:extLst>
      <p:ext uri="{BB962C8B-B14F-4D97-AF65-F5344CB8AC3E}">
        <p14:creationId xmlns:p14="http://schemas.microsoft.com/office/powerpoint/2010/main" val="3706359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E9584-5E12-AD17-2B6E-0C061E0D31E9}"/>
              </a:ext>
            </a:extLst>
          </p:cNvPr>
          <p:cNvSpPr>
            <a:spLocks noGrp="1"/>
          </p:cNvSpPr>
          <p:nvPr>
            <p:ph type="title"/>
          </p:nvPr>
        </p:nvSpPr>
        <p:spPr/>
        <p:txBody>
          <a:bodyPr/>
          <a:lstStyle/>
          <a:p>
            <a:r>
              <a:rPr lang="en-IL" dirty="0"/>
              <a:t>Question_III</a:t>
            </a:r>
            <a:br>
              <a:rPr lang="en-IL" dirty="0"/>
            </a:br>
            <a:r>
              <a:rPr lang="en-IL" dirty="0"/>
              <a:t>Feature selection</a:t>
            </a:r>
          </a:p>
        </p:txBody>
      </p:sp>
      <p:sp>
        <p:nvSpPr>
          <p:cNvPr id="3" name="Content Placeholder 2">
            <a:extLst>
              <a:ext uri="{FF2B5EF4-FFF2-40B4-BE49-F238E27FC236}">
                <a16:creationId xmlns:a16="http://schemas.microsoft.com/office/drawing/2014/main" id="{D839CAF7-D668-70BE-4097-EEE0E5694920}"/>
              </a:ext>
            </a:extLst>
          </p:cNvPr>
          <p:cNvSpPr>
            <a:spLocks noGrp="1"/>
          </p:cNvSpPr>
          <p:nvPr>
            <p:ph idx="1"/>
          </p:nvPr>
        </p:nvSpPr>
        <p:spPr>
          <a:xfrm>
            <a:off x="3592822" y="534342"/>
            <a:ext cx="7315200" cy="4601183"/>
          </a:xfrm>
        </p:spPr>
        <p:txBody>
          <a:bodyPr>
            <a:normAutofit fontScale="40000" lnSpcReduction="20000"/>
          </a:bodyPr>
          <a:lstStyle/>
          <a:p>
            <a:pPr marL="0" indent="0">
              <a:buNone/>
            </a:pPr>
            <a:endParaRPr lang="en-US" dirty="0"/>
          </a:p>
          <a:p>
            <a:pPr algn="ctr"/>
            <a:r>
              <a:rPr lang="en-US" sz="4000" dirty="0">
                <a:solidFill>
                  <a:schemeClr val="tx1"/>
                </a:solidFill>
              </a:rPr>
              <a:t>First, we need to determine which features to use for constructing the new index:</a:t>
            </a:r>
          </a:p>
          <a:p>
            <a:br>
              <a:rPr lang="en-US" dirty="0">
                <a:solidFill>
                  <a:schemeClr val="tx1"/>
                </a:solidFill>
              </a:rPr>
            </a:br>
            <a:br>
              <a:rPr lang="en-US" dirty="0">
                <a:solidFill>
                  <a:schemeClr val="tx1"/>
                </a:solidFill>
              </a:rPr>
            </a:br>
            <a:r>
              <a:rPr lang="en-US" sz="4000" u="sng" dirty="0">
                <a:solidFill>
                  <a:schemeClr val="tx1"/>
                </a:solidFill>
              </a:rPr>
              <a:t>A) Market/Price Features</a:t>
            </a:r>
          </a:p>
          <a:p>
            <a:pPr marL="0" indent="0">
              <a:buNone/>
            </a:pPr>
            <a:r>
              <a:rPr lang="en-US" sz="4000" dirty="0">
                <a:solidFill>
                  <a:schemeClr val="tx1"/>
                </a:solidFill>
              </a:rPr>
              <a:t>– Historical returns (1m/3m/6m/12m)</a:t>
            </a:r>
          </a:p>
          <a:p>
            <a:pPr marL="0" indent="0">
              <a:buNone/>
            </a:pPr>
            <a:r>
              <a:rPr lang="en-US" sz="4000" dirty="0">
                <a:solidFill>
                  <a:schemeClr val="tx1"/>
                </a:solidFill>
              </a:rPr>
              <a:t>– Volatility</a:t>
            </a:r>
          </a:p>
          <a:p>
            <a:pPr marL="0" indent="0">
              <a:buNone/>
            </a:pPr>
            <a:r>
              <a:rPr lang="en-US" sz="4000" dirty="0">
                <a:solidFill>
                  <a:schemeClr val="tx1"/>
                </a:solidFill>
              </a:rPr>
              <a:t>– Liquidity measures such as bid-ask spread</a:t>
            </a:r>
          </a:p>
          <a:p>
            <a:pPr marL="0" indent="0">
              <a:buNone/>
            </a:pPr>
            <a:r>
              <a:rPr lang="en-US" sz="4000" dirty="0">
                <a:solidFill>
                  <a:schemeClr val="tx1"/>
                </a:solidFill>
              </a:rPr>
              <a:t>– Momentum factor</a:t>
            </a:r>
          </a:p>
          <a:p>
            <a:pPr marL="0" indent="0">
              <a:buNone/>
            </a:pPr>
            <a:r>
              <a:rPr lang="en-US" sz="4000" dirty="0">
                <a:solidFill>
                  <a:schemeClr val="tx1"/>
                </a:solidFill>
              </a:rPr>
              <a:t>– Size</a:t>
            </a:r>
          </a:p>
          <a:p>
            <a:endParaRPr lang="en-US" sz="4000" dirty="0">
              <a:solidFill>
                <a:schemeClr val="tx1"/>
              </a:solidFill>
            </a:endParaRPr>
          </a:p>
          <a:p>
            <a:pPr marL="0" indent="0">
              <a:buNone/>
            </a:pPr>
            <a:r>
              <a:rPr lang="en-US" sz="4000" u="sng" dirty="0">
                <a:solidFill>
                  <a:schemeClr val="tx1"/>
                </a:solidFill>
              </a:rPr>
              <a:t>C) Textual/NLP-Based Features</a:t>
            </a:r>
          </a:p>
          <a:p>
            <a:pPr marL="0" indent="0">
              <a:buNone/>
            </a:pPr>
            <a:r>
              <a:rPr lang="en-US" sz="4000" dirty="0">
                <a:solidFill>
                  <a:schemeClr val="tx1"/>
                </a:solidFill>
              </a:rPr>
              <a:t>– Company descriptions</a:t>
            </a:r>
          </a:p>
          <a:p>
            <a:pPr marL="0" indent="0">
              <a:buNone/>
            </a:pPr>
            <a:r>
              <a:rPr lang="en-US" sz="4000" dirty="0">
                <a:solidFill>
                  <a:schemeClr val="tx1"/>
                </a:solidFill>
              </a:rPr>
              <a:t>– Filing statements and news sources</a:t>
            </a:r>
          </a:p>
          <a:p>
            <a:pPr marL="0" indent="0">
              <a:buNone/>
            </a:pPr>
            <a:r>
              <a:rPr lang="en-US" sz="4000" dirty="0">
                <a:solidFill>
                  <a:schemeClr val="tx1"/>
                </a:solidFill>
              </a:rPr>
              <a:t>We would embed these texts and look for similarities.</a:t>
            </a:r>
            <a:endParaRPr lang="en-IL" sz="4000" dirty="0">
              <a:solidFill>
                <a:schemeClr val="tx1"/>
              </a:solidFill>
            </a:endParaRPr>
          </a:p>
        </p:txBody>
      </p:sp>
      <p:sp>
        <p:nvSpPr>
          <p:cNvPr id="4" name="TextBox 3">
            <a:extLst>
              <a:ext uri="{FF2B5EF4-FFF2-40B4-BE49-F238E27FC236}">
                <a16:creationId xmlns:a16="http://schemas.microsoft.com/office/drawing/2014/main" id="{F92FB40B-9E1A-D929-9C15-9A286F44090C}"/>
              </a:ext>
            </a:extLst>
          </p:cNvPr>
          <p:cNvSpPr txBox="1"/>
          <p:nvPr/>
        </p:nvSpPr>
        <p:spPr>
          <a:xfrm>
            <a:off x="7463074" y="1499429"/>
            <a:ext cx="3444948" cy="1815882"/>
          </a:xfrm>
          <a:prstGeom prst="rect">
            <a:avLst/>
          </a:prstGeom>
          <a:noFill/>
        </p:spPr>
        <p:txBody>
          <a:bodyPr wrap="square" rtlCol="0">
            <a:spAutoFit/>
          </a:bodyPr>
          <a:lstStyle/>
          <a:p>
            <a:r>
              <a:rPr lang="en-US" sz="1600" u="sng" dirty="0"/>
              <a:t>B) Fundamental/Business Features</a:t>
            </a:r>
          </a:p>
          <a:p>
            <a:r>
              <a:rPr lang="en-US" sz="1600" dirty="0"/>
              <a:t>– Revenue</a:t>
            </a:r>
          </a:p>
          <a:p>
            <a:r>
              <a:rPr lang="en-US" sz="1600" dirty="0"/>
              <a:t>- Cash Flow</a:t>
            </a:r>
          </a:p>
          <a:p>
            <a:r>
              <a:rPr lang="en-US" sz="1600" dirty="0"/>
              <a:t>– Earnings</a:t>
            </a:r>
          </a:p>
          <a:p>
            <a:r>
              <a:rPr lang="en-US" sz="1600" dirty="0"/>
              <a:t>– Debt</a:t>
            </a:r>
          </a:p>
          <a:p>
            <a:r>
              <a:rPr lang="en-US" sz="1600" dirty="0"/>
              <a:t>– R&amp;D expenditure as a percentage of budget</a:t>
            </a:r>
          </a:p>
        </p:txBody>
      </p:sp>
    </p:spTree>
    <p:extLst>
      <p:ext uri="{BB962C8B-B14F-4D97-AF65-F5344CB8AC3E}">
        <p14:creationId xmlns:p14="http://schemas.microsoft.com/office/powerpoint/2010/main" val="55979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964F8-1EE1-F8AE-C41B-720F2C269F52}"/>
              </a:ext>
            </a:extLst>
          </p:cNvPr>
          <p:cNvSpPr>
            <a:spLocks noGrp="1"/>
          </p:cNvSpPr>
          <p:nvPr>
            <p:ph type="title"/>
          </p:nvPr>
        </p:nvSpPr>
        <p:spPr/>
        <p:txBody>
          <a:bodyPr/>
          <a:lstStyle/>
          <a:p>
            <a:r>
              <a:rPr lang="en-IL" dirty="0"/>
              <a:t>Question_III</a:t>
            </a:r>
            <a:br>
              <a:rPr lang="en-IL" dirty="0"/>
            </a:br>
            <a:r>
              <a:rPr lang="en-IL" dirty="0"/>
              <a:t>Clsutering and Evaluation</a:t>
            </a:r>
          </a:p>
        </p:txBody>
      </p:sp>
      <p:sp>
        <p:nvSpPr>
          <p:cNvPr id="3" name="Content Placeholder 2">
            <a:extLst>
              <a:ext uri="{FF2B5EF4-FFF2-40B4-BE49-F238E27FC236}">
                <a16:creationId xmlns:a16="http://schemas.microsoft.com/office/drawing/2014/main" id="{E2E0FB87-C8C8-AEA3-FD91-4D46C1C76C5F}"/>
              </a:ext>
            </a:extLst>
          </p:cNvPr>
          <p:cNvSpPr>
            <a:spLocks noGrp="1"/>
          </p:cNvSpPr>
          <p:nvPr>
            <p:ph idx="1"/>
          </p:nvPr>
        </p:nvSpPr>
        <p:spPr/>
        <p:txBody>
          <a:bodyPr/>
          <a:lstStyle/>
          <a:p>
            <a:r>
              <a:rPr lang="en-US" dirty="0"/>
              <a:t>We can take all of these features (or select a subset), apply PCA or other dimensionality-reduction methods, and then run clustering algorithms such as K-means or spectral clustering.</a:t>
            </a:r>
          </a:p>
          <a:p>
            <a:endParaRPr lang="en-US" dirty="0"/>
          </a:p>
          <a:p>
            <a:r>
              <a:rPr lang="en-US" dirty="0"/>
              <a:t>Finally, we would evaluate whether the resulting clusters make economic sense and whether they provide better risk-adjusted performance over time compared to standard sector indices.</a:t>
            </a:r>
            <a:endParaRPr lang="en-IL" dirty="0"/>
          </a:p>
        </p:txBody>
      </p:sp>
    </p:spTree>
    <p:extLst>
      <p:ext uri="{BB962C8B-B14F-4D97-AF65-F5344CB8AC3E}">
        <p14:creationId xmlns:p14="http://schemas.microsoft.com/office/powerpoint/2010/main" val="1837576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9274A-BFEC-CC82-032C-99984D427EEF}"/>
              </a:ext>
            </a:extLst>
          </p:cNvPr>
          <p:cNvSpPr>
            <a:spLocks noGrp="1"/>
          </p:cNvSpPr>
          <p:nvPr>
            <p:ph type="title"/>
          </p:nvPr>
        </p:nvSpPr>
        <p:spPr/>
        <p:txBody>
          <a:bodyPr/>
          <a:lstStyle/>
          <a:p>
            <a:r>
              <a:rPr lang="en-IL" dirty="0"/>
              <a:t>Question_IV</a:t>
            </a:r>
            <a:br>
              <a:rPr lang="en-IL" dirty="0"/>
            </a:br>
            <a:r>
              <a:rPr lang="en-US" b="1" dirty="0"/>
              <a:t>Earnings KPI Drivers </a:t>
            </a:r>
            <a:endParaRPr lang="en-IL" dirty="0"/>
          </a:p>
        </p:txBody>
      </p:sp>
      <p:sp>
        <p:nvSpPr>
          <p:cNvPr id="3" name="Content Placeholder 2">
            <a:extLst>
              <a:ext uri="{FF2B5EF4-FFF2-40B4-BE49-F238E27FC236}">
                <a16:creationId xmlns:a16="http://schemas.microsoft.com/office/drawing/2014/main" id="{9E8FAB48-3D27-54D3-F489-2DCCC13BA27C}"/>
              </a:ext>
            </a:extLst>
          </p:cNvPr>
          <p:cNvSpPr>
            <a:spLocks noGrp="1"/>
          </p:cNvSpPr>
          <p:nvPr>
            <p:ph idx="1"/>
          </p:nvPr>
        </p:nvSpPr>
        <p:spPr/>
        <p:txBody>
          <a:bodyPr/>
          <a:lstStyle/>
          <a:p>
            <a:r>
              <a:rPr lang="en-US" b="1" dirty="0"/>
              <a:t>Earnings KPI Drivers</a:t>
            </a:r>
            <a:r>
              <a:rPr lang="en-US" dirty="0"/>
              <a:t>. We spend significant effort understanding the companies in which we invest.</a:t>
            </a:r>
            <a:br>
              <a:rPr lang="en-US" dirty="0"/>
            </a:br>
            <a:r>
              <a:rPr lang="en-US" dirty="0"/>
              <a:t> Select two US securities from different industries. Compare and contrast their business models, earnings drivers, and earnings results. Spend part of the analysis addressing KPIs that might be useful for predicting future under/over performance. </a:t>
            </a:r>
          </a:p>
          <a:p>
            <a:r>
              <a:rPr lang="en-US" dirty="0"/>
              <a:t>Track any materials that you used during your research.</a:t>
            </a:r>
            <a:br>
              <a:rPr lang="en-US" dirty="0"/>
            </a:br>
            <a:endParaRPr lang="en-US" dirty="0"/>
          </a:p>
          <a:p>
            <a:endParaRPr lang="en-IL" dirty="0"/>
          </a:p>
        </p:txBody>
      </p:sp>
    </p:spTree>
    <p:extLst>
      <p:ext uri="{BB962C8B-B14F-4D97-AF65-F5344CB8AC3E}">
        <p14:creationId xmlns:p14="http://schemas.microsoft.com/office/powerpoint/2010/main" val="3152312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C020A-C2AE-FD27-5756-B93C52BA01DD}"/>
              </a:ext>
            </a:extLst>
          </p:cNvPr>
          <p:cNvSpPr>
            <a:spLocks noGrp="1"/>
          </p:cNvSpPr>
          <p:nvPr>
            <p:ph type="title"/>
          </p:nvPr>
        </p:nvSpPr>
        <p:spPr/>
        <p:txBody>
          <a:bodyPr/>
          <a:lstStyle/>
          <a:p>
            <a:r>
              <a:rPr lang="en-IL" dirty="0"/>
              <a:t>Question_IV</a:t>
            </a:r>
            <a:br>
              <a:rPr lang="en-IL" dirty="0"/>
            </a:br>
            <a:endParaRPr lang="en-IL" dirty="0"/>
          </a:p>
        </p:txBody>
      </p:sp>
      <p:sp>
        <p:nvSpPr>
          <p:cNvPr id="3" name="Content Placeholder 2">
            <a:extLst>
              <a:ext uri="{FF2B5EF4-FFF2-40B4-BE49-F238E27FC236}">
                <a16:creationId xmlns:a16="http://schemas.microsoft.com/office/drawing/2014/main" id="{8720FA8D-84EB-7B5A-4073-59BF66B14BEB}"/>
              </a:ext>
            </a:extLst>
          </p:cNvPr>
          <p:cNvSpPr>
            <a:spLocks noGrp="1"/>
          </p:cNvSpPr>
          <p:nvPr>
            <p:ph idx="1"/>
          </p:nvPr>
        </p:nvSpPr>
        <p:spPr/>
        <p:txBody>
          <a:bodyPr/>
          <a:lstStyle/>
          <a:p>
            <a:pPr marL="0" indent="0" algn="ctr">
              <a:buNone/>
            </a:pPr>
            <a:r>
              <a:rPr lang="en-US" b="1" u="sng" dirty="0"/>
              <a:t>Business Model Comparison</a:t>
            </a:r>
          </a:p>
          <a:p>
            <a:r>
              <a:rPr lang="en-US" dirty="0"/>
              <a:t>Qualcomm operates a </a:t>
            </a:r>
            <a:r>
              <a:rPr lang="en-US" b="1" dirty="0"/>
              <a:t>fabless semiconductor and intellectual property licensing model</a:t>
            </a:r>
            <a:r>
              <a:rPr lang="en-US" dirty="0"/>
              <a:t>, generating revenue through its chipset business (QCT) and high-margin wireless patent licensing (QTL). Earnings depend heavily on global smartphone demand, OEM design wins, and adoption of new wireless and edge-AI technologies, with diversification emerging from automotive and IoT segments.</a:t>
            </a:r>
          </a:p>
          <a:p>
            <a:r>
              <a:rPr lang="en-US" dirty="0"/>
              <a:t>Axon, by contrast, leverages a </a:t>
            </a:r>
            <a:r>
              <a:rPr lang="en-US" b="1" dirty="0"/>
              <a:t>hardware-enabled SaaS platform model</a:t>
            </a:r>
            <a:r>
              <a:rPr lang="en-US" dirty="0"/>
              <a:t> centered on TASER devices, body and in-car cameras, cloud evidence management software, and real-time public-safety tools. Its growth strategy emphasizes recurring subscription revenue, multi-year government contracts, and continued expansion across the public-safety ecosystem.</a:t>
            </a:r>
          </a:p>
          <a:p>
            <a:endParaRPr lang="en-IL" dirty="0"/>
          </a:p>
        </p:txBody>
      </p:sp>
    </p:spTree>
    <p:extLst>
      <p:ext uri="{BB962C8B-B14F-4D97-AF65-F5344CB8AC3E}">
        <p14:creationId xmlns:p14="http://schemas.microsoft.com/office/powerpoint/2010/main" val="1646887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259F-D6BE-5732-F3E1-4F1372303410}"/>
              </a:ext>
            </a:extLst>
          </p:cNvPr>
          <p:cNvSpPr>
            <a:spLocks noGrp="1"/>
          </p:cNvSpPr>
          <p:nvPr>
            <p:ph type="title"/>
          </p:nvPr>
        </p:nvSpPr>
        <p:spPr/>
        <p:txBody>
          <a:bodyPr/>
          <a:lstStyle/>
          <a:p>
            <a:r>
              <a:rPr lang="en-IL" dirty="0"/>
              <a:t>Question_IV</a:t>
            </a:r>
          </a:p>
        </p:txBody>
      </p:sp>
      <p:sp>
        <p:nvSpPr>
          <p:cNvPr id="3" name="Content Placeholder 2">
            <a:extLst>
              <a:ext uri="{FF2B5EF4-FFF2-40B4-BE49-F238E27FC236}">
                <a16:creationId xmlns:a16="http://schemas.microsoft.com/office/drawing/2014/main" id="{9CB2B61B-D353-CD80-E59C-0EECF4871032}"/>
              </a:ext>
            </a:extLst>
          </p:cNvPr>
          <p:cNvSpPr>
            <a:spLocks noGrp="1"/>
          </p:cNvSpPr>
          <p:nvPr>
            <p:ph idx="1"/>
          </p:nvPr>
        </p:nvSpPr>
        <p:spPr/>
        <p:txBody>
          <a:bodyPr/>
          <a:lstStyle/>
          <a:p>
            <a:pPr marL="0" indent="0" algn="ctr">
              <a:buNone/>
            </a:pPr>
            <a:r>
              <a:rPr lang="en-US" b="1" u="sng" dirty="0"/>
              <a:t>Primary Earnings Drivers</a:t>
            </a:r>
          </a:p>
          <a:p>
            <a:r>
              <a:rPr lang="en-US" dirty="0"/>
              <a:t>Qualcomm’s earnings are shaped by </a:t>
            </a:r>
            <a:r>
              <a:rPr lang="en-US" b="1" dirty="0"/>
              <a:t>smartphone unit volumes</a:t>
            </a:r>
            <a:r>
              <a:rPr lang="en-US" dirty="0"/>
              <a:t>, </a:t>
            </a:r>
            <a:r>
              <a:rPr lang="en-US" b="1" dirty="0"/>
              <a:t>premium chip adoption</a:t>
            </a:r>
            <a:r>
              <a:rPr lang="en-US" dirty="0"/>
              <a:t>, </a:t>
            </a:r>
            <a:r>
              <a:rPr lang="en-US" b="1" dirty="0"/>
              <a:t>royalty collections</a:t>
            </a:r>
            <a:r>
              <a:rPr lang="en-US" dirty="0"/>
              <a:t>, and </a:t>
            </a:r>
            <a:r>
              <a:rPr lang="en-US" b="1" dirty="0"/>
              <a:t>gross-margin mix</a:t>
            </a:r>
            <a:r>
              <a:rPr lang="en-US" dirty="0"/>
              <a:t> across handset, automotive, and IoT markets. As mobile markets mature, long-cycle automotive design wins, increasing on-device AI capabilities, and stable licensing revenue are becoming more influential predictors of growth and margin expansion.</a:t>
            </a:r>
          </a:p>
          <a:p>
            <a:r>
              <a:rPr lang="en-US" dirty="0"/>
              <a:t>Axon’s earnings are driven by </a:t>
            </a:r>
            <a:r>
              <a:rPr lang="en-US" b="1" dirty="0"/>
              <a:t>device deployments</a:t>
            </a:r>
            <a:r>
              <a:rPr lang="en-US" dirty="0"/>
              <a:t> (TASERs, cameras, sensors), </a:t>
            </a:r>
            <a:r>
              <a:rPr lang="en-US" b="1" dirty="0"/>
              <a:t>software subscription growth</a:t>
            </a:r>
            <a:r>
              <a:rPr lang="en-US" dirty="0"/>
              <a:t>, </a:t>
            </a:r>
            <a:r>
              <a:rPr lang="en-US" b="1" dirty="0"/>
              <a:t>contracted backlog</a:t>
            </a:r>
            <a:r>
              <a:rPr lang="en-US" dirty="0"/>
              <a:t>, and </a:t>
            </a:r>
            <a:r>
              <a:rPr lang="en-US" b="1" dirty="0"/>
              <a:t>expanding recurring revenue mix</a:t>
            </a:r>
            <a:r>
              <a:rPr lang="en-US" dirty="0"/>
              <a:t>. Its high revenue visibility and scalable operating model have enabled sustained &gt;30% annual growth, supported by strong adoption from law-enforcement and public-safety agencies.</a:t>
            </a:r>
          </a:p>
          <a:p>
            <a:r>
              <a:rPr lang="en-IL"/>
              <a:t>Sources we primarly SEC reports including 10-K, news coverage, public market and annual reports. </a:t>
            </a:r>
            <a:endParaRPr lang="en-IL" dirty="0"/>
          </a:p>
        </p:txBody>
      </p:sp>
    </p:spTree>
    <p:extLst>
      <p:ext uri="{BB962C8B-B14F-4D97-AF65-F5344CB8AC3E}">
        <p14:creationId xmlns:p14="http://schemas.microsoft.com/office/powerpoint/2010/main" val="2262702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E7737-02BC-74ED-D8F8-2451ED303669}"/>
              </a:ext>
            </a:extLst>
          </p:cNvPr>
          <p:cNvSpPr>
            <a:spLocks noGrp="1"/>
          </p:cNvSpPr>
          <p:nvPr>
            <p:ph type="title"/>
          </p:nvPr>
        </p:nvSpPr>
        <p:spPr/>
        <p:txBody>
          <a:bodyPr/>
          <a:lstStyle/>
          <a:p>
            <a:r>
              <a:rPr lang="en-IL" dirty="0"/>
              <a:t>Question_IV</a:t>
            </a:r>
          </a:p>
        </p:txBody>
      </p:sp>
      <p:sp>
        <p:nvSpPr>
          <p:cNvPr id="3" name="Content Placeholder 2">
            <a:extLst>
              <a:ext uri="{FF2B5EF4-FFF2-40B4-BE49-F238E27FC236}">
                <a16:creationId xmlns:a16="http://schemas.microsoft.com/office/drawing/2014/main" id="{F9BC0690-02B4-2AE1-B74F-DF7D63554305}"/>
              </a:ext>
            </a:extLst>
          </p:cNvPr>
          <p:cNvSpPr>
            <a:spLocks noGrp="1"/>
          </p:cNvSpPr>
          <p:nvPr>
            <p:ph idx="1"/>
          </p:nvPr>
        </p:nvSpPr>
        <p:spPr/>
        <p:txBody>
          <a:bodyPr>
            <a:normAutofit fontScale="92500" lnSpcReduction="10000"/>
          </a:bodyPr>
          <a:lstStyle/>
          <a:p>
            <a:pPr marL="0" indent="0" algn="ctr">
              <a:buNone/>
            </a:pPr>
            <a:r>
              <a:rPr lang="en-US" sz="1900" b="1" u="sng" dirty="0"/>
              <a:t>KPIs for Predicting Future Performance</a:t>
            </a:r>
          </a:p>
          <a:p>
            <a:pPr marL="0" indent="0">
              <a:buNone/>
            </a:pPr>
            <a:r>
              <a:rPr lang="en-US" sz="1900" b="1" dirty="0"/>
              <a:t>For Qualcomm, the most predictive KPIs include:</a:t>
            </a:r>
            <a:endParaRPr lang="en-US" sz="1900" dirty="0"/>
          </a:p>
          <a:p>
            <a:r>
              <a:rPr lang="en-US" sz="1900" dirty="0"/>
              <a:t>QCT segment mix (Handset vs. Automotive/IoT)</a:t>
            </a:r>
          </a:p>
          <a:p>
            <a:r>
              <a:rPr lang="en-US" sz="1900" dirty="0"/>
              <a:t>Licensing revenue stability and royalty rates (QTL)</a:t>
            </a:r>
          </a:p>
          <a:p>
            <a:r>
              <a:rPr lang="en-US" sz="1900" dirty="0"/>
              <a:t>Premium device share and AI-enabled chipset adoption</a:t>
            </a:r>
          </a:p>
          <a:p>
            <a:r>
              <a:rPr lang="en-US" sz="1900" dirty="0"/>
              <a:t>Automotive design wins and revenue backlog</a:t>
            </a:r>
          </a:p>
          <a:p>
            <a:r>
              <a:rPr lang="en-US" sz="1900" dirty="0"/>
              <a:t>Gross margin trajectory and R&amp;D intensity</a:t>
            </a:r>
          </a:p>
          <a:p>
            <a:pPr marL="0" indent="0">
              <a:buNone/>
            </a:pPr>
            <a:r>
              <a:rPr lang="en-US" sz="1900" b="1" dirty="0"/>
              <a:t>For Axon, the most predictive KPIs include:</a:t>
            </a:r>
            <a:endParaRPr lang="en-US" sz="1900" dirty="0"/>
          </a:p>
          <a:p>
            <a:r>
              <a:rPr lang="en-US" sz="1900" dirty="0"/>
              <a:t>ARR growth and software/service revenue as a share of total</a:t>
            </a:r>
          </a:p>
          <a:p>
            <a:r>
              <a:rPr lang="en-US" sz="1900" dirty="0"/>
              <a:t>Subscription renewal rates and net revenue retention</a:t>
            </a:r>
          </a:p>
          <a:p>
            <a:r>
              <a:rPr lang="en-US" sz="1900" dirty="0"/>
              <a:t>Device deployments (TASER, cameras, drones) and attach rates to cloud modules</a:t>
            </a:r>
          </a:p>
          <a:p>
            <a:r>
              <a:rPr lang="en-US" sz="1900" dirty="0"/>
              <a:t>Backlog growth and multi-year contract momentum</a:t>
            </a:r>
          </a:p>
          <a:p>
            <a:r>
              <a:rPr lang="en-US" sz="1900" dirty="0"/>
              <a:t>Adjusted EBITDA margin expansion</a:t>
            </a:r>
          </a:p>
          <a:p>
            <a:endParaRPr lang="en-IL" dirty="0"/>
          </a:p>
        </p:txBody>
      </p:sp>
    </p:spTree>
    <p:extLst>
      <p:ext uri="{BB962C8B-B14F-4D97-AF65-F5344CB8AC3E}">
        <p14:creationId xmlns:p14="http://schemas.microsoft.com/office/powerpoint/2010/main" val="3124708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65916-F4ED-D3B6-DAB3-C414583190DA}"/>
              </a:ext>
            </a:extLst>
          </p:cNvPr>
          <p:cNvSpPr>
            <a:spLocks noGrp="1"/>
          </p:cNvSpPr>
          <p:nvPr>
            <p:ph type="title"/>
          </p:nvPr>
        </p:nvSpPr>
        <p:spPr/>
        <p:txBody>
          <a:bodyPr/>
          <a:lstStyle/>
          <a:p>
            <a:r>
              <a:rPr lang="en-IL" dirty="0"/>
              <a:t>Question_V</a:t>
            </a:r>
            <a:br>
              <a:rPr lang="en-IL" dirty="0"/>
            </a:br>
            <a:r>
              <a:rPr lang="en-US" b="1" dirty="0"/>
              <a:t>Portfolio Analytics </a:t>
            </a:r>
            <a:endParaRPr lang="en-IL" dirty="0"/>
          </a:p>
        </p:txBody>
      </p:sp>
      <p:sp>
        <p:nvSpPr>
          <p:cNvPr id="3" name="Content Placeholder 2">
            <a:extLst>
              <a:ext uri="{FF2B5EF4-FFF2-40B4-BE49-F238E27FC236}">
                <a16:creationId xmlns:a16="http://schemas.microsoft.com/office/drawing/2014/main" id="{018ACC6F-E474-962C-270A-19D312942A7F}"/>
              </a:ext>
            </a:extLst>
          </p:cNvPr>
          <p:cNvSpPr>
            <a:spLocks noGrp="1"/>
          </p:cNvSpPr>
          <p:nvPr>
            <p:ph idx="1"/>
          </p:nvPr>
        </p:nvSpPr>
        <p:spPr/>
        <p:txBody>
          <a:bodyPr/>
          <a:lstStyle/>
          <a:p>
            <a:pPr marL="0" indent="0">
              <a:buNone/>
            </a:pPr>
            <a:r>
              <a:rPr lang="en-US" sz="1400" dirty="0"/>
              <a:t>A portfolio manager approaches you with the following questions, describe how you would approach each one. The portfolio is $1B in GMV, includes 50 software securities, has 80% </a:t>
            </a:r>
            <a:r>
              <a:rPr lang="en-US" sz="1400" dirty="0" err="1"/>
              <a:t>idio</a:t>
            </a:r>
            <a:r>
              <a:rPr lang="en-US" sz="1400" dirty="0"/>
              <a:t> variance when measured by a multi-factor risk model with 50 factors, historically trades about $100M per month, and has performed at a 2 Sharpe and 1.5 IR over the last 2 years. Limit each response to a maximum of 3 sentences. </a:t>
            </a:r>
          </a:p>
          <a:p>
            <a:pPr marL="0" indent="0">
              <a:buNone/>
            </a:pPr>
            <a:endParaRPr lang="en-US" sz="1200" dirty="0"/>
          </a:p>
          <a:p>
            <a:pPr marL="0" indent="0">
              <a:buNone/>
            </a:pPr>
            <a:endParaRPr lang="en-US" sz="1200" dirty="0"/>
          </a:p>
          <a:p>
            <a:endParaRPr lang="en-IL" dirty="0"/>
          </a:p>
        </p:txBody>
      </p:sp>
      <p:sp>
        <p:nvSpPr>
          <p:cNvPr id="4" name="TextBox 3">
            <a:extLst>
              <a:ext uri="{FF2B5EF4-FFF2-40B4-BE49-F238E27FC236}">
                <a16:creationId xmlns:a16="http://schemas.microsoft.com/office/drawing/2014/main" id="{F311F535-4BD8-DBA9-A3FA-C089B5FDE5B5}"/>
              </a:ext>
            </a:extLst>
          </p:cNvPr>
          <p:cNvSpPr txBox="1"/>
          <p:nvPr/>
        </p:nvSpPr>
        <p:spPr>
          <a:xfrm>
            <a:off x="2647507" y="3381153"/>
            <a:ext cx="184731" cy="369332"/>
          </a:xfrm>
          <a:prstGeom prst="rect">
            <a:avLst/>
          </a:prstGeom>
          <a:noFill/>
        </p:spPr>
        <p:txBody>
          <a:bodyPr wrap="none" rtlCol="0">
            <a:spAutoFit/>
          </a:bodyPr>
          <a:lstStyle/>
          <a:p>
            <a:endParaRPr lang="en-IL" dirty="0"/>
          </a:p>
        </p:txBody>
      </p:sp>
    </p:spTree>
    <p:extLst>
      <p:ext uri="{BB962C8B-B14F-4D97-AF65-F5344CB8AC3E}">
        <p14:creationId xmlns:p14="http://schemas.microsoft.com/office/powerpoint/2010/main" val="250250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D1667-F68C-7C3C-6C43-20F0F8C1447E}"/>
              </a:ext>
            </a:extLst>
          </p:cNvPr>
          <p:cNvSpPr>
            <a:spLocks noGrp="1"/>
          </p:cNvSpPr>
          <p:nvPr>
            <p:ph type="title"/>
          </p:nvPr>
        </p:nvSpPr>
        <p:spPr/>
        <p:txBody>
          <a:bodyPr/>
          <a:lstStyle/>
          <a:p>
            <a:r>
              <a:rPr lang="en-IL" dirty="0"/>
              <a:t>Question_V</a:t>
            </a:r>
            <a:br>
              <a:rPr lang="en-IL" dirty="0"/>
            </a:br>
            <a:r>
              <a:rPr lang="en-IL" dirty="0"/>
              <a:t>Part i</a:t>
            </a:r>
          </a:p>
        </p:txBody>
      </p:sp>
      <p:sp>
        <p:nvSpPr>
          <p:cNvPr id="3" name="Content Placeholder 2">
            <a:extLst>
              <a:ext uri="{FF2B5EF4-FFF2-40B4-BE49-F238E27FC236}">
                <a16:creationId xmlns:a16="http://schemas.microsoft.com/office/drawing/2014/main" id="{23E6D680-FEDC-DCD7-549D-A8AB1D2CE45C}"/>
              </a:ext>
            </a:extLst>
          </p:cNvPr>
          <p:cNvSpPr>
            <a:spLocks noGrp="1"/>
          </p:cNvSpPr>
          <p:nvPr>
            <p:ph idx="1"/>
          </p:nvPr>
        </p:nvSpPr>
        <p:spPr/>
        <p:txBody>
          <a:bodyPr/>
          <a:lstStyle/>
          <a:p>
            <a:r>
              <a:rPr lang="en-US" dirty="0"/>
              <a:t>My momentum exposure is higher than two weeks ago, what could be driving that? </a:t>
            </a:r>
          </a:p>
          <a:p>
            <a:pPr marL="0" indent="0">
              <a:buNone/>
            </a:pPr>
            <a:r>
              <a:rPr lang="en-US" dirty="0"/>
              <a:t>The factor exposure may have changed because recent price moves increased the realized momentum signal of the holdings, even if you no trades were made. Recent trades may have unintentionally tilted the portfolio toward names with strong short-term or intermediate momentum. Lastly, the risk model’s factor returns or loadings may have shifted unintentionally increasing the measured exposure.</a:t>
            </a:r>
          </a:p>
          <a:p>
            <a:endParaRPr lang="en-IL" dirty="0"/>
          </a:p>
        </p:txBody>
      </p:sp>
    </p:spTree>
    <p:extLst>
      <p:ext uri="{BB962C8B-B14F-4D97-AF65-F5344CB8AC3E}">
        <p14:creationId xmlns:p14="http://schemas.microsoft.com/office/powerpoint/2010/main" val="2085637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377A4-3B14-2646-0A86-1B13610159F5}"/>
              </a:ext>
            </a:extLst>
          </p:cNvPr>
          <p:cNvSpPr>
            <a:spLocks noGrp="1"/>
          </p:cNvSpPr>
          <p:nvPr>
            <p:ph type="title"/>
          </p:nvPr>
        </p:nvSpPr>
        <p:spPr/>
        <p:txBody>
          <a:bodyPr/>
          <a:lstStyle/>
          <a:p>
            <a:r>
              <a:rPr lang="en-IL" dirty="0"/>
              <a:t>Question_V</a:t>
            </a:r>
            <a:br>
              <a:rPr lang="en-IL" dirty="0"/>
            </a:br>
            <a:r>
              <a:rPr lang="en-IL" dirty="0"/>
              <a:t>P</a:t>
            </a:r>
            <a:r>
              <a:rPr lang="en-US" dirty="0"/>
              <a:t>a</a:t>
            </a:r>
            <a:r>
              <a:rPr lang="en-IL" dirty="0"/>
              <a:t>rt ii</a:t>
            </a:r>
          </a:p>
        </p:txBody>
      </p:sp>
      <p:sp>
        <p:nvSpPr>
          <p:cNvPr id="3" name="Content Placeholder 2">
            <a:extLst>
              <a:ext uri="{FF2B5EF4-FFF2-40B4-BE49-F238E27FC236}">
                <a16:creationId xmlns:a16="http://schemas.microsoft.com/office/drawing/2014/main" id="{2073F547-5B5E-B82F-0BFE-C67C08FF07B4}"/>
              </a:ext>
            </a:extLst>
          </p:cNvPr>
          <p:cNvSpPr>
            <a:spLocks noGrp="1"/>
          </p:cNvSpPr>
          <p:nvPr>
            <p:ph idx="1"/>
          </p:nvPr>
        </p:nvSpPr>
        <p:spPr/>
        <p:txBody>
          <a:bodyPr/>
          <a:lstStyle/>
          <a:p>
            <a:r>
              <a:rPr lang="en-US" dirty="0"/>
              <a:t>The risk model says that I have no Beta exposure, but it feels like I do, can you check? </a:t>
            </a:r>
          </a:p>
          <a:p>
            <a:pPr marL="0" indent="0">
              <a:buNone/>
            </a:pPr>
            <a:r>
              <a:rPr lang="en-IL" dirty="0"/>
              <a:t>We can consider measuring the beta against several time frames, compared that against the model predicted beta. It could also be that we have several non-linear relationship in our factors. Lastly, it could be that the distribution we use to model our returns is different then what we have empirically.</a:t>
            </a:r>
          </a:p>
        </p:txBody>
      </p:sp>
    </p:spTree>
    <p:extLst>
      <p:ext uri="{BB962C8B-B14F-4D97-AF65-F5344CB8AC3E}">
        <p14:creationId xmlns:p14="http://schemas.microsoft.com/office/powerpoint/2010/main" val="1429642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20A36-DAF9-0884-0746-91A666854106}"/>
              </a:ext>
            </a:extLst>
          </p:cNvPr>
          <p:cNvSpPr>
            <a:spLocks noGrp="1"/>
          </p:cNvSpPr>
          <p:nvPr>
            <p:ph type="title"/>
          </p:nvPr>
        </p:nvSpPr>
        <p:spPr/>
        <p:txBody>
          <a:bodyPr/>
          <a:lstStyle/>
          <a:p>
            <a:r>
              <a:rPr lang="en-IL" dirty="0"/>
              <a:t>Question_V</a:t>
            </a:r>
            <a:br>
              <a:rPr lang="en-IL" dirty="0"/>
            </a:br>
            <a:r>
              <a:rPr lang="en-IL" dirty="0"/>
              <a:t>P</a:t>
            </a:r>
            <a:r>
              <a:rPr lang="en-US" dirty="0"/>
              <a:t>a</a:t>
            </a:r>
            <a:r>
              <a:rPr lang="en-IL" dirty="0"/>
              <a:t>rt iii</a:t>
            </a:r>
          </a:p>
        </p:txBody>
      </p:sp>
      <p:sp>
        <p:nvSpPr>
          <p:cNvPr id="3" name="Content Placeholder 2">
            <a:extLst>
              <a:ext uri="{FF2B5EF4-FFF2-40B4-BE49-F238E27FC236}">
                <a16:creationId xmlns:a16="http://schemas.microsoft.com/office/drawing/2014/main" id="{63CEE858-DFFB-4336-5417-2D7DECE07FD5}"/>
              </a:ext>
            </a:extLst>
          </p:cNvPr>
          <p:cNvSpPr>
            <a:spLocks noGrp="1"/>
          </p:cNvSpPr>
          <p:nvPr>
            <p:ph idx="1"/>
          </p:nvPr>
        </p:nvSpPr>
        <p:spPr/>
        <p:txBody>
          <a:bodyPr/>
          <a:lstStyle/>
          <a:p>
            <a:r>
              <a:rPr lang="en-US" dirty="0"/>
              <a:t>The risk model says that my portfolio has $2M of daily </a:t>
            </a:r>
            <a:r>
              <a:rPr lang="en-US" dirty="0" err="1"/>
              <a:t>idio</a:t>
            </a:r>
            <a:r>
              <a:rPr lang="en-US" dirty="0"/>
              <a:t> vol, but it feels more volatile than that, what could be going on? </a:t>
            </a:r>
          </a:p>
          <a:p>
            <a:pPr marL="0" indent="0">
              <a:buNone/>
            </a:pPr>
            <a:r>
              <a:rPr lang="en-US" dirty="0"/>
              <a:t>Since the multi-factor model updates slowly, factor loadings and volatilities may not reflect recent market conditions, leading to understated </a:t>
            </a:r>
            <a:r>
              <a:rPr lang="en-US" dirty="0" err="1"/>
              <a:t>idio</a:t>
            </a:r>
            <a:r>
              <a:rPr lang="en-US" dirty="0"/>
              <a:t> vol. The model also ignores intraday moves or event-driven risks, which can make realized volatility feel higher. Finally, if the factor set is incomplete, the model misattributes some systematic risk as idiosyncratic and underestimates its magnitude.</a:t>
            </a:r>
          </a:p>
        </p:txBody>
      </p:sp>
    </p:spTree>
    <p:extLst>
      <p:ext uri="{BB962C8B-B14F-4D97-AF65-F5344CB8AC3E}">
        <p14:creationId xmlns:p14="http://schemas.microsoft.com/office/powerpoint/2010/main" val="3670682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A0D49-9391-B696-C829-2751BE0B3DCD}"/>
              </a:ext>
            </a:extLst>
          </p:cNvPr>
          <p:cNvSpPr>
            <a:spLocks noGrp="1"/>
          </p:cNvSpPr>
          <p:nvPr>
            <p:ph type="title"/>
          </p:nvPr>
        </p:nvSpPr>
        <p:spPr/>
        <p:txBody>
          <a:bodyPr/>
          <a:lstStyle/>
          <a:p>
            <a:r>
              <a:rPr lang="en-IL" dirty="0"/>
              <a:t>Question_V</a:t>
            </a:r>
            <a:br>
              <a:rPr lang="en-IL" dirty="0"/>
            </a:br>
            <a:r>
              <a:rPr lang="en-IL" dirty="0"/>
              <a:t>Part iv</a:t>
            </a:r>
          </a:p>
        </p:txBody>
      </p:sp>
      <p:sp>
        <p:nvSpPr>
          <p:cNvPr id="3" name="Content Placeholder 2">
            <a:extLst>
              <a:ext uri="{FF2B5EF4-FFF2-40B4-BE49-F238E27FC236}">
                <a16:creationId xmlns:a16="http://schemas.microsoft.com/office/drawing/2014/main" id="{BE743779-ADF3-E658-1B74-1A81CFC3814F}"/>
              </a:ext>
            </a:extLst>
          </p:cNvPr>
          <p:cNvSpPr>
            <a:spLocks noGrp="1"/>
          </p:cNvSpPr>
          <p:nvPr>
            <p:ph idx="1"/>
          </p:nvPr>
        </p:nvSpPr>
        <p:spPr/>
        <p:txBody>
          <a:bodyPr/>
          <a:lstStyle/>
          <a:p>
            <a:r>
              <a:rPr lang="en-US" dirty="0"/>
              <a:t>I’m not sure how well I’m timing my trades, will you help me quantify my timing skill? </a:t>
            </a:r>
          </a:p>
          <a:p>
            <a:pPr marL="0" indent="0">
              <a:buNone/>
            </a:pPr>
            <a:r>
              <a:rPr lang="en-US" dirty="0"/>
              <a:t> We should measure timing skill by comparing our actual trade prices to benchmarks like VWAP or arrival price across different time horizons. By analyzing the slippage and </a:t>
            </a:r>
            <a:r>
              <a:rPr lang="en-US" dirty="0" err="1"/>
              <a:t>PnL</a:t>
            </a:r>
            <a:r>
              <a:rPr lang="en-US" dirty="0"/>
              <a:t> relative to these benchmarks, we can see whether our trades systematically add value. We can also regress post-trade returns against trade direction to see whether we tend to buy before price decreases or sell before increases.</a:t>
            </a:r>
            <a:endParaRPr lang="en-IL" dirty="0"/>
          </a:p>
        </p:txBody>
      </p:sp>
    </p:spTree>
    <p:extLst>
      <p:ext uri="{BB962C8B-B14F-4D97-AF65-F5344CB8AC3E}">
        <p14:creationId xmlns:p14="http://schemas.microsoft.com/office/powerpoint/2010/main" val="537630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EF91D-DCE3-577A-D5C5-09B81A1DEC67}"/>
              </a:ext>
            </a:extLst>
          </p:cNvPr>
          <p:cNvSpPr>
            <a:spLocks noGrp="1"/>
          </p:cNvSpPr>
          <p:nvPr>
            <p:ph type="title"/>
          </p:nvPr>
        </p:nvSpPr>
        <p:spPr/>
        <p:txBody>
          <a:bodyPr/>
          <a:lstStyle/>
          <a:p>
            <a:r>
              <a:rPr lang="en-IL" dirty="0"/>
              <a:t>Question_V</a:t>
            </a:r>
            <a:br>
              <a:rPr lang="en-IL" dirty="0"/>
            </a:br>
            <a:r>
              <a:rPr lang="en-IL" dirty="0"/>
              <a:t>Part v</a:t>
            </a:r>
          </a:p>
        </p:txBody>
      </p:sp>
      <p:sp>
        <p:nvSpPr>
          <p:cNvPr id="3" name="Content Placeholder 2">
            <a:extLst>
              <a:ext uri="{FF2B5EF4-FFF2-40B4-BE49-F238E27FC236}">
                <a16:creationId xmlns:a16="http://schemas.microsoft.com/office/drawing/2014/main" id="{EA99B85C-7E54-6FA2-94BD-C20FD3CB0574}"/>
              </a:ext>
            </a:extLst>
          </p:cNvPr>
          <p:cNvSpPr>
            <a:spLocks noGrp="1"/>
          </p:cNvSpPr>
          <p:nvPr>
            <p:ph idx="1"/>
          </p:nvPr>
        </p:nvSpPr>
        <p:spPr/>
        <p:txBody>
          <a:bodyPr/>
          <a:lstStyle/>
          <a:p>
            <a:r>
              <a:rPr lang="en-US" dirty="0"/>
              <a:t>I have 50 positions in my portfolio, some larger than others, how should I think about measuring the concentration of position sizes? </a:t>
            </a:r>
          </a:p>
          <a:p>
            <a:r>
              <a:rPr lang="en-US" dirty="0"/>
              <a:t>We can compute metrics like Herfindahl-Hirschman Index (HHI), effective number of positions (1/HHI), and top-k weight shares to capture size concentration. We can also evaluate factor concentration by examining how much risk comes from your top exposures rather than just notional weight.</a:t>
            </a:r>
            <a:endParaRPr lang="en-IL" dirty="0"/>
          </a:p>
        </p:txBody>
      </p:sp>
    </p:spTree>
    <p:extLst>
      <p:ext uri="{BB962C8B-B14F-4D97-AF65-F5344CB8AC3E}">
        <p14:creationId xmlns:p14="http://schemas.microsoft.com/office/powerpoint/2010/main" val="469610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CD337-1145-1708-A7AB-0AE74AE473B3}"/>
              </a:ext>
            </a:extLst>
          </p:cNvPr>
          <p:cNvSpPr>
            <a:spLocks noGrp="1"/>
          </p:cNvSpPr>
          <p:nvPr>
            <p:ph type="title"/>
          </p:nvPr>
        </p:nvSpPr>
        <p:spPr/>
        <p:txBody>
          <a:bodyPr/>
          <a:lstStyle/>
          <a:p>
            <a:r>
              <a:rPr lang="en-IL" dirty="0"/>
              <a:t>Question_V</a:t>
            </a:r>
            <a:br>
              <a:rPr lang="en-IL" dirty="0"/>
            </a:br>
            <a:r>
              <a:rPr lang="en-IL" dirty="0"/>
              <a:t>Part vi</a:t>
            </a:r>
          </a:p>
        </p:txBody>
      </p:sp>
      <p:sp>
        <p:nvSpPr>
          <p:cNvPr id="3" name="Content Placeholder 2">
            <a:extLst>
              <a:ext uri="{FF2B5EF4-FFF2-40B4-BE49-F238E27FC236}">
                <a16:creationId xmlns:a16="http://schemas.microsoft.com/office/drawing/2014/main" id="{3A00D559-F4C3-3CC0-8F2E-367747C233C0}"/>
              </a:ext>
            </a:extLst>
          </p:cNvPr>
          <p:cNvSpPr>
            <a:spLocks noGrp="1"/>
          </p:cNvSpPr>
          <p:nvPr>
            <p:ph idx="1"/>
          </p:nvPr>
        </p:nvSpPr>
        <p:spPr/>
        <p:txBody>
          <a:bodyPr/>
          <a:lstStyle/>
          <a:p>
            <a:r>
              <a:rPr lang="en-US" dirty="0"/>
              <a:t>My Sharpe is higher than my IR, how can I find the drivers of those differences? </a:t>
            </a:r>
          </a:p>
          <a:p>
            <a:r>
              <a:rPr lang="en-US" dirty="0"/>
              <a:t>Sharpe includes both factor and idiosyncratic returns, while IR isolates only idiosyncratic alpha, so the gap reflects the contribution of rewarded factor exposures. We can run a factor-based return attribution using the risk model to separate factor </a:t>
            </a:r>
            <a:r>
              <a:rPr lang="en-US" dirty="0" err="1"/>
              <a:t>PnL</a:t>
            </a:r>
            <a:r>
              <a:rPr lang="en-US" dirty="0"/>
              <a:t> from alpha </a:t>
            </a:r>
            <a:r>
              <a:rPr lang="en-US" dirty="0" err="1"/>
              <a:t>PnL</a:t>
            </a:r>
            <a:r>
              <a:rPr lang="en-US" dirty="0"/>
              <a:t> and identify which specific factors are driving the higher Sharpe..</a:t>
            </a:r>
            <a:endParaRPr lang="en-IL" dirty="0"/>
          </a:p>
        </p:txBody>
      </p:sp>
    </p:spTree>
    <p:extLst>
      <p:ext uri="{BB962C8B-B14F-4D97-AF65-F5344CB8AC3E}">
        <p14:creationId xmlns:p14="http://schemas.microsoft.com/office/powerpoint/2010/main" val="26561483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CE40C-51A8-70F0-8F51-5F88F5E118C8}"/>
              </a:ext>
            </a:extLst>
          </p:cNvPr>
          <p:cNvSpPr>
            <a:spLocks noGrp="1"/>
          </p:cNvSpPr>
          <p:nvPr>
            <p:ph type="title"/>
          </p:nvPr>
        </p:nvSpPr>
        <p:spPr/>
        <p:txBody>
          <a:bodyPr/>
          <a:lstStyle/>
          <a:p>
            <a:r>
              <a:rPr lang="en-IL" dirty="0"/>
              <a:t>Question_V</a:t>
            </a:r>
            <a:br>
              <a:rPr lang="en-IL" dirty="0"/>
            </a:br>
            <a:r>
              <a:rPr lang="en-IL" dirty="0"/>
              <a:t>Part vii</a:t>
            </a:r>
          </a:p>
        </p:txBody>
      </p:sp>
      <p:sp>
        <p:nvSpPr>
          <p:cNvPr id="3" name="Content Placeholder 2">
            <a:extLst>
              <a:ext uri="{FF2B5EF4-FFF2-40B4-BE49-F238E27FC236}">
                <a16:creationId xmlns:a16="http://schemas.microsoft.com/office/drawing/2014/main" id="{BAEF4AE7-C997-19AC-A7CC-272D324A7C8A}"/>
              </a:ext>
            </a:extLst>
          </p:cNvPr>
          <p:cNvSpPr>
            <a:spLocks noGrp="1"/>
          </p:cNvSpPr>
          <p:nvPr>
            <p:ph idx="1"/>
          </p:nvPr>
        </p:nvSpPr>
        <p:spPr/>
        <p:txBody>
          <a:bodyPr/>
          <a:lstStyle/>
          <a:p>
            <a:r>
              <a:rPr lang="en-US" dirty="0"/>
              <a:t>I’ve been losing money on FOMC and CPI days, will you help me understand why and quantify it for the future? </a:t>
            </a:r>
          </a:p>
          <a:p>
            <a:pPr marL="0" indent="0">
              <a:buNone/>
            </a:pPr>
            <a:r>
              <a:rPr lang="en-US" dirty="0"/>
              <a:t>We can isolate returns on past FOMC and CPI dates and run an event-study to quantify average and distributional performance on those days. Then, decompose those event-day returns into factor and idiosyncratic components to identify whether the losses come from macro exposures such as rates sensitivity, growth/defensive tilts, or crowded factors. Finally, we use the historical event-day return distribution to estimate expected </a:t>
            </a:r>
            <a:r>
              <a:rPr lang="en-US" dirty="0" err="1"/>
              <a:t>PnL</a:t>
            </a:r>
            <a:r>
              <a:rPr lang="en-US" dirty="0"/>
              <a:t> and tail risk on future macro-event days.</a:t>
            </a:r>
            <a:endParaRPr lang="en-IL" dirty="0"/>
          </a:p>
        </p:txBody>
      </p:sp>
    </p:spTree>
    <p:extLst>
      <p:ext uri="{BB962C8B-B14F-4D97-AF65-F5344CB8AC3E}">
        <p14:creationId xmlns:p14="http://schemas.microsoft.com/office/powerpoint/2010/main" val="81797639"/>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Frame</Template>
  <TotalTime>1253</TotalTime>
  <Words>1728</Words>
  <Application>Microsoft Macintosh PowerPoint</Application>
  <PresentationFormat>Widescreen</PresentationFormat>
  <Paragraphs>96</Paragraphs>
  <Slides>21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Corbel</vt:lpstr>
      <vt:lpstr>Wingdings</vt:lpstr>
      <vt:lpstr>Wingdings 2</vt:lpstr>
      <vt:lpstr>Frame</vt:lpstr>
      <vt:lpstr>Case Study – Jain Global </vt:lpstr>
      <vt:lpstr>Question_I Momentum aspects.</vt:lpstr>
      <vt:lpstr>The 12m-to-1 signal, vol adjusted.</vt:lpstr>
      <vt:lpstr>Naïve 15 days, vol adjusted signal.</vt:lpstr>
      <vt:lpstr>Sector Signal Momentum 6m</vt:lpstr>
      <vt:lpstr>Question_II Crowding</vt:lpstr>
      <vt:lpstr>Question_III Groups </vt:lpstr>
      <vt:lpstr>Question_III Feature selection</vt:lpstr>
      <vt:lpstr>Question_III Clsutering and Evaluation</vt:lpstr>
      <vt:lpstr>Question_IV Earnings KPI Drivers </vt:lpstr>
      <vt:lpstr>Question_IV </vt:lpstr>
      <vt:lpstr>Question_IV</vt:lpstr>
      <vt:lpstr>Question_IV</vt:lpstr>
      <vt:lpstr>Question_V Portfolio Analytics </vt:lpstr>
      <vt:lpstr>Question_V Part i</vt:lpstr>
      <vt:lpstr>Question_V Part ii</vt:lpstr>
      <vt:lpstr>Question_V Part iii</vt:lpstr>
      <vt:lpstr>Question_V Part iv</vt:lpstr>
      <vt:lpstr>Question_V Part v</vt:lpstr>
      <vt:lpstr>Question_V Part vi</vt:lpstr>
      <vt:lpstr>Question_V Part vii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Shiri Alouf Heffetz</dc:creator>
  <cp:lastModifiedBy>Shiri Alouf Heffetz</cp:lastModifiedBy>
  <cp:revision>15</cp:revision>
  <dcterms:created xsi:type="dcterms:W3CDTF">2025-12-04T17:27:44Z</dcterms:created>
  <dcterms:modified xsi:type="dcterms:W3CDTF">2025-12-05T14:21:15Z</dcterms:modified>
</cp:coreProperties>
</file>